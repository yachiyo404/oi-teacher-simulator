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4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7B6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90E0EF"/>
              </a:solidFill>
              <a:effectLst/>
            </c:spPr>
          </c:dPt>
          <c:dPt>
            <c:idx val="3"/>
            <c:bubble3D val="0"/>
            <c:spPr>
              <a:solidFill>
                <a:srgbClr val="48CAE4"/>
              </a:solidFill>
              <a:effectLst/>
            </c:spPr>
          </c:dPt>
          <c:dPt>
            <c:idx val="4"/>
            <c:bubble3D val="0"/>
            <c:spPr>
              <a:solidFill>
                <a:srgbClr val="023E8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资金断裂</c:v>
                </c:pt>
                <c:pt idx="1">
                  <c:v>市场误判</c:v>
                </c:pt>
                <c:pt idx="2">
                  <c:v>团队分歧</c:v>
                </c:pt>
                <c:pt idx="3">
                  <c:v>技术瓶颈</c:v>
                </c:pt>
                <c:pt idx="4">
                  <c:v>政策变化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36</c:v>
                </c:pt>
                <c:pt idx="1">
                  <c:v>28</c:v>
                </c:pt>
                <c:pt idx="2">
                  <c:v>16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平均时间(年)</c:v>
                </c:pt>
              </c:strCache>
            </c:strRef>
          </c:tx>
          <c:spPr>
            <a:solidFill>
              <a:srgbClr val="0077B6"/>
            </a:solidFill>
            <a:ln w="25400" cap="flat">
              <a:solidFill>
                <a:srgbClr val="0077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学术专家</c:v>
                  </c:pt>
                  <c:pt idx="1">
                    <c:v>艺术大师</c:v>
                  </c:pt>
                  <c:pt idx="2">
                    <c:v>企业创始人</c:v>
                  </c:pt>
                  <c:pt idx="3">
                    <c:v>奥运冠军</c:v>
                  </c:pt>
                  <c:pt idx="4">
                    <c:v>技术专家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12</c:v>
                </c:pt>
                <c:pt idx="2">
                  <c:v>10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扶持资金(亿元)</c:v>
                </c:pt>
              </c:strCache>
            </c:strRef>
          </c:tx>
          <c:spPr>
            <a:solidFill>
              <a:srgbClr val="0077B6"/>
            </a:solidFill>
            <a:ln w="25400" cap="flat">
              <a:solidFill>
                <a:srgbClr val="0077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45</c:v>
                </c:pt>
                <c:pt idx="2">
                  <c:v>58</c:v>
                </c:pt>
                <c:pt idx="3">
                  <c:v>72</c:v>
                </c:pt>
                <c:pt idx="4">
                  <c:v>88</c:v>
                </c:pt>
                <c:pt idx="5">
                  <c:v>106</c:v>
                </c:pt>
                <c:pt idx="6">
                  <c:v>130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7B6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90E0EF"/>
              </a:solidFill>
              <a:effectLst/>
            </c:spPr>
          </c:dPt>
          <c:dPt>
            <c:idx val="3"/>
            <c:bubble3D val="0"/>
            <c:spPr>
              <a:solidFill>
                <a:srgbClr val="48CAE4"/>
              </a:solidFill>
              <a:effectLst/>
            </c:spPr>
          </c:dPt>
          <c:dPt>
            <c:idx val="4"/>
            <c:bubble3D val="0"/>
            <c:spPr>
              <a:solidFill>
                <a:srgbClr val="023E8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AI与大模型</c:v>
                </c:pt>
                <c:pt idx="1">
                  <c:v>新能源碳中和</c:v>
                </c:pt>
                <c:pt idx="2">
                  <c:v>生物医药</c:v>
                </c:pt>
                <c:pt idx="3">
                  <c:v>数字新消费</c:v>
                </c:pt>
                <c:pt idx="4">
                  <c:v>文化创意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24</c:v>
                </c:pt>
                <c:pt idx="2">
                  <c:v>18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在困难中成长 · 在坚守中蜕变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五四青年节主题演讲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2286000" cy="27432"/>
          </a:xfrm>
          <a:prstGeom prst="rect">
            <a:avLst/>
          </a:prstGeom>
          <a:solidFill>
            <a:srgbClr val="90E0E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序章 · 五四精神的当代回响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1919 — 2026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一百零七年的精神传承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1919年5月4日，一群青年走上北京街头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他们用热血点燃了民族的觉醒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科学、民主、进步 —— 这些旗帜至今飘扬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一百零七年后，我们接过了这份精神遗产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五四精神的内核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中国青年的精神基因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精神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565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473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当代意义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爱国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65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与民族共命运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473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在岗位上做到极致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E8F8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65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永不停止探索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473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终身学习与自我迭代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民主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565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独立思考表达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73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参与社会的建设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7863840" cy="320040"/>
          </a:xfrm>
          <a:prstGeom prst="rect">
            <a:avLst/>
          </a:prstGeom>
          <a:solidFill>
            <a:srgbClr val="E8F8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565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实事求是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473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用理性对抗喧嚣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当代青年的困境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我们面对的六重压力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就业竞争白热化，内卷成为常态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AI技术颠覆，知识焦虑蔓延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信息碎片化，深度思考被侵蚀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社交媒体的比较焦虑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339242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房价和生活成本居高不下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377647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6576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意义感缺失，精神漂泊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041648"/>
            <a:ext cx="4572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4041648"/>
            <a:ext cx="7726680" cy="41148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8736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这是一个最好的时代，也是一个最难的时代。而青年，从来都站在最难的那一端。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面对困难的三种态度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你选择哪一种？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态度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565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473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逃避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65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拖延、躺平、假装努力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473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原地踏步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E8F8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65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死磕到底、拒绝求助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473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内耗严重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565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接受现实、主动求解、借力成长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73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真正蜕变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第一章 · 困难篇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困难是成长的原材料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重塑对"困难"的认知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肌肉在撕裂后愈合才会变强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珍珠是牡蛎对异物的应激反应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钻石是碳在极端压力下的产物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所有的伟大，都诞生于不适区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273552"/>
            <a:ext cx="4572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273552"/>
            <a:ext cx="7726680" cy="41148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19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你不是在受苦，你是在扎根。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真实故事 · 寒门逆袭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从大山到清华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生于贵州山区，父母常年在外打工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每天徒步5公里山路上学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全校唯一有课外书的学生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高考全县第一名，考入清华大学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真实故事 · 科技破局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那些被打倒又站起来的创业者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565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失败经历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473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最终成就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汪滔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65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宿舍创业无人看好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473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大疆成全球霸主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E8F8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张一鸣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65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四次创业折戟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473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今日头条/抖音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565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校内网被迫贱卖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73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美团万亿市值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失败的价值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在困难中成长的五个法则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接受现实 —— 困难是常态，不是意外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09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6642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聚焦可控 —— 只关注你能改变的部分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939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0482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小步前进 —— 每天进步1%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478024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780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4323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记录反思 —— 把经验转化为能力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86207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62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28163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主动求助 —— 强者懂得借力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 · 坚守篇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什么是真正的坚守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 ≠ 傻傻死撑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坚守是方向正确的前提下持续迭代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坚守是知道什么值得坚持、什么应该放弃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坚守是在看不到结果时依然保持行动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坚守不是原地踏步，而是螺旋上升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蜕变的三阶段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从量变到质变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08860" y="173736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51960" y="173736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95060" y="173736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关键心态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05740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积累期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08860" y="205740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51960" y="205740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默默无闻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95060" y="205740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耐心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E8F8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37744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阵痛期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08860" y="237744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0.5-1年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51960" y="237744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怀疑迷茫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5060" y="237744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信心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69748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08860" y="269748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之后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51960" y="269748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豁然开朗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5060" y="2697480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谦逊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复利的力量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守得住寂寞 · 等得到花开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从传统文化汲取力量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572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80160"/>
            <a:ext cx="7726680" cy="64008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"天将降大任于是人也，必先苦其心志，劳其筋骨，饿其体肤，空乏其身，行拂乱其所为，所以动心忍性，曾益其所不能。" —— 《孟子》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"宝剑锋从磨砺出，梅花香自苦寒来。" —— 《警世贤文》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坚守中的自我迭代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螺旋上升模型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每一次坚守都是在重复中精进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坚守的是核心价值观，迭代的是方法和策略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在微观上不断调整，在宏观上保持定力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蜕变就发生在每一次微小的优化中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 · 行动篇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这个时代需要什么样的青年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四种核心能力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7863840" cy="32004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565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47360" y="1737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培养路径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深度思考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65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AI时代的稀缺能力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47360" y="20574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读书+写作+独处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7863840" cy="320040"/>
          </a:xfrm>
          <a:prstGeom prst="rect">
            <a:avLst/>
          </a:prstGeom>
          <a:solidFill>
            <a:srgbClr val="E8F8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跨界融合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565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创新诞生于边界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47360" y="23774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打破学科壁垒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坚韧执行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565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想法不值钱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7360" y="26974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习惯养成系统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7863840" cy="320040"/>
          </a:xfrm>
          <a:prstGeom prst="rect">
            <a:avLst/>
          </a:prstGeom>
          <a:solidFill>
            <a:srgbClr val="E8F8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共情连接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565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技术越强人越贵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47360" y="30175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倾听和善意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行动指南 · 建立你的定投系统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把成长变成日常仪式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每天30分钟深度阅读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67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214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每周一篇反思笔记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每月学一个新工具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每季度校准一次方向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4572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3273552"/>
            <a:ext cx="7726680" cy="41148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19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天才不过是把正确的事情重复做。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行动指南 · 困难清单法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直面恐惧，主动出击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写下最令你焦虑的三件事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67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214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每周安排一次"恐惧暴露"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记录每次突破后的感受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三个月后重新评估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青年就业热点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给青年的七条建议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少刷短视频，多读完整书籍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09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6642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少焦虑未来，多深耕当下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939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0482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少跟别人比较，多超越昨天的自己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478024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780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4323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找到一个值得效仿的榜样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86207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62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28163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培养持续一生的运动习惯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2461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学会独处，享受独立思考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63016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6301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58444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永远保持对世界的善意和好奇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从优秀到卓越的五个跨越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7863840" cy="32004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56560" y="12801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47360" y="12801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被动应对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56560" y="16002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主动规划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47360" y="160020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夺回人生方向盘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7863840" cy="320040"/>
          </a:xfrm>
          <a:prstGeom prst="rect">
            <a:avLst/>
          </a:prstGeom>
          <a:solidFill>
            <a:srgbClr val="E8F8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202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追求认可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56560" y="19202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追求价值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47360" y="192024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从外驱到内驱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害怕失败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56560" y="22402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拥抱实验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47360" y="224028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人生是探索之旅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7863840" cy="320040"/>
          </a:xfrm>
          <a:prstGeom prst="rect">
            <a:avLst/>
          </a:prstGeom>
          <a:solidFill>
            <a:srgbClr val="E8F8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5603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关注结果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56560" y="25603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关注过程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47360" y="256032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享受每一天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880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索取思维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56560" y="2880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贡献思维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47360" y="2880360"/>
            <a:ext cx="254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先创造再收获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结语 · 青春无悔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回望来时路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那些苦难都已化作勋章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8562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你所有深夜的坚持，都会在某个黎明绽放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214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你所有想放弃却咬牙撑住的瞬间，都在定义你是谁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2432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困难是人生的分水岭，区分出谁是真的勇者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00837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坚守是灵魂的淬火，锻造出真正的钢铁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青春宣言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我们的誓言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不负时代，不负韶华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671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214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在困难中长出筋骨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在坚守中完成蜕变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以青春之我，建设青春之中国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188720"/>
            <a:ext cx="4572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3840480"/>
            <a:ext cx="4572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828800" y="27432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愿每一位青年，都能穿越风雨，抵达星辰 ——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五四青年节 ·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2026-05-29T12:39:41Z</dcterms:created>
  <dcterms:modified xsi:type="dcterms:W3CDTF">2026-05-29T12:39:41Z</dcterms:modified>
</cp:coreProperties>
</file>