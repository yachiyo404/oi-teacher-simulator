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1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2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charts/chart3.xml" ContentType="application/vnd.openxmlformats-officedocument.drawingml.chart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charts/chart4.xml" ContentType="application/vnd.openxmlformats-officedocument.drawingml.chart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占比(%)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8BDF8"/>
              </a:solidFill>
              <a:effectLst/>
            </c:spPr>
          </c:dPt>
          <c:dPt>
            <c:idx val="1"/>
            <c:bubble3D val="0"/>
            <c:spPr>
              <a:solidFill>
                <a:srgbClr val="60A5FA"/>
              </a:solidFill>
              <a:effectLst/>
            </c:spPr>
          </c:dPt>
          <c:dPt>
            <c:idx val="2"/>
            <c:bubble3D val="0"/>
            <c:spPr>
              <a:solidFill>
                <a:srgbClr val="93C5FD"/>
              </a:solidFill>
              <a:effectLst/>
            </c:spPr>
          </c:dPt>
          <c:dPt>
            <c:idx val="3"/>
            <c:bubble3D val="0"/>
            <c:spPr>
              <a:solidFill>
                <a:srgbClr val="2563EB"/>
              </a:solidFill>
              <a:effectLst/>
            </c:spPr>
          </c:dPt>
          <c:dPt>
            <c:idx val="4"/>
            <c:bubble3D val="0"/>
            <c:spPr>
              <a:solidFill>
                <a:srgbClr val="1D4ED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CBD5E1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CBD5E1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CBD5E1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CBD5E1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CBD5E1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资金链断裂</c:v>
                </c:pt>
                <c:pt idx="1">
                  <c:v>市场定位错误</c:v>
                </c:pt>
                <c:pt idx="2">
                  <c:v>团队矛盾</c:v>
                </c:pt>
                <c:pt idx="3">
                  <c:v>技术壁垒</c:v>
                </c:pt>
                <c:pt idx="4">
                  <c:v>政策变化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35</c:v>
                </c:pt>
                <c:pt idx="1">
                  <c:v>28</c:v>
                </c:pt>
                <c:pt idx="2">
                  <c:v>18</c:v>
                </c:pt>
                <c:pt idx="3">
                  <c:v>12</c:v>
                </c:pt>
                <c:pt idx="4">
                  <c:v>7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CBD5E1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平均需要时间(年)</c:v>
                </c:pt>
              </c:strCache>
            </c:strRef>
          </c:tx>
          <c:spPr>
            <a:solidFill>
              <a:srgbClr val="38BDF8"/>
            </a:solidFill>
            <a:ln w="25400" cap="flat">
              <a:solidFill>
                <a:srgbClr val="38BDF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CBD5E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8BDF8"/>
              </a:solidFill>
              <a:ln w="9525" cap="flat">
                <a:solidFill>
                  <a:srgbClr val="38BDF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学术研究</c:v>
                  </c:pt>
                  <c:pt idx="1">
                    <c:v>企业创业</c:v>
                  </c:pt>
                  <c:pt idx="2">
                    <c:v>艺术创作</c:v>
                  </c:pt>
                  <c:pt idx="3">
                    <c:v>运动冠军</c:v>
                  </c:pt>
                  <c:pt idx="4">
                    <c:v>技术专家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</c:v>
                </c:pt>
                <c:pt idx="1">
                  <c:v>10</c:v>
                </c:pt>
                <c:pt idx="2">
                  <c:v>12</c:v>
                </c:pt>
                <c:pt idx="3">
                  <c:v>8</c:v>
                </c:pt>
                <c:pt idx="4">
                  <c:v>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CBD5E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CBD5E1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占比(%)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8BDF8"/>
              </a:solidFill>
              <a:effectLst/>
            </c:spPr>
          </c:dPt>
          <c:dPt>
            <c:idx val="1"/>
            <c:bubble3D val="0"/>
            <c:spPr>
              <a:solidFill>
                <a:srgbClr val="60A5FA"/>
              </a:solidFill>
              <a:effectLst/>
            </c:spPr>
          </c:dPt>
          <c:dPt>
            <c:idx val="2"/>
            <c:bubble3D val="0"/>
            <c:spPr>
              <a:solidFill>
                <a:srgbClr val="93C5FD"/>
              </a:solidFill>
              <a:effectLst/>
            </c:spPr>
          </c:dPt>
          <c:dPt>
            <c:idx val="3"/>
            <c:bubble3D val="0"/>
            <c:spPr>
              <a:solidFill>
                <a:srgbClr val="2563EB"/>
              </a:solidFill>
              <a:effectLst/>
            </c:spPr>
          </c:dPt>
          <c:dPt>
            <c:idx val="4"/>
            <c:bubble3D val="0"/>
            <c:spPr>
              <a:solidFill>
                <a:srgbClr val="1D4ED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CBD5E1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CBD5E1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CBD5E1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CBD5E1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CBD5E1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AI与大模型相关</c:v>
                </c:pt>
                <c:pt idx="1">
                  <c:v>新能源与碳中和</c:v>
                </c:pt>
                <c:pt idx="2">
                  <c:v>生物医药与健康</c:v>
                </c:pt>
                <c:pt idx="3">
                  <c:v>数字经济与新消费</c:v>
                </c:pt>
                <c:pt idx="4">
                  <c:v>文化创意与内容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28</c:v>
                </c:pt>
                <c:pt idx="1">
                  <c:v>22</c:v>
                </c:pt>
                <c:pt idx="2">
                  <c:v>18</c:v>
                </c:pt>
                <c:pt idx="3">
                  <c:v>20</c:v>
                </c:pt>
                <c:pt idx="4">
                  <c:v>12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CBD5E1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青年创业扶持资金(亿元)</c:v>
                </c:pt>
              </c:strCache>
            </c:strRef>
          </c:tx>
          <c:spPr>
            <a:solidFill>
              <a:srgbClr val="38BDF8"/>
            </a:solidFill>
            <a:ln w="25400" cap="flat">
              <a:solidFill>
                <a:srgbClr val="38BDF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CBD5E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8BDF8"/>
              </a:solidFill>
              <a:ln w="9525" cap="flat">
                <a:solidFill>
                  <a:srgbClr val="38BDF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  <c:pt idx="6">
                    <c:v>2026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32</c:v>
                </c:pt>
                <c:pt idx="1">
                  <c:v>45</c:v>
                </c:pt>
                <c:pt idx="2">
                  <c:v>58</c:v>
                </c:pt>
                <c:pt idx="3">
                  <c:v>72</c:v>
                </c:pt>
                <c:pt idx="4">
                  <c:v>88</c:v>
                </c:pt>
                <c:pt idx="5">
                  <c:v>106</c:v>
                </c:pt>
                <c:pt idx="6">
                  <c:v>130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CBD5E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CBD5E1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188720"/>
            <a:ext cx="54864" cy="14630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在困难中成长 · 在坚守中蜕变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五四青年节主题演讲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840480"/>
            <a:ext cx="2286000" cy="27432"/>
          </a:xfrm>
          <a:prstGeom prst="rect">
            <a:avLst/>
          </a:prstGeom>
          <a:solidFill>
            <a:srgbClr val="60A5F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目录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报告结构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201168" cy="20116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78308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73736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序章：五四精神的当代意义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167128"/>
            <a:ext cx="201168" cy="20116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16712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121408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困难篇：成长的必经之路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551176"/>
            <a:ext cx="201168" cy="20116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55117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2505456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坚守篇：蜕变的内在力量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935224"/>
            <a:ext cx="201168" cy="20116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93522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2889504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行动篇：新时代青年的担当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319272"/>
            <a:ext cx="201168" cy="20116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31927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3273552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结语：青春无悔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46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第一章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46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序章 · 五四精神的当代意义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46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五四运动回顾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1919 — 唤醒民族意识的历史时刻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4048" y="1856232"/>
            <a:ext cx="82296" cy="822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73736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1919年5月4日，北京学生走上街头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" y="2240280"/>
            <a:ext cx="82296" cy="822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2121408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反对巴黎和会对中国的不公待遇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4048" y="2624328"/>
            <a:ext cx="82296" cy="822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一场由青年点燃的思想解放运动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84048" y="3008376"/>
            <a:ext cx="82296" cy="822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2889504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科学、民主、进步的旗帜从此高扬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46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五四精神的核心内涵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四重精神维度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1737360"/>
            <a:ext cx="786384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7373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精神维度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51960" y="17373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核心要义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0574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爱国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51960" y="20574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心系民族，与国家共命运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377440"/>
            <a:ext cx="7863840" cy="320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377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进步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51960" y="2377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追求真理，不固步自封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2697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民主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51960" y="2697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独立思考，勇于表达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017520"/>
            <a:ext cx="7863840" cy="320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0175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科学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251960" y="30175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实事求是，理性求索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46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百年回望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一代青年有一代青年的使命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4048" y="1856232"/>
            <a:ext cx="82296" cy="822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73736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1919年：救亡图存，唤醒民族觉醒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" y="2240280"/>
            <a:ext cx="82296" cy="822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2121408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1949年：建设新中国，从废墟中崛起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4048" y="2624328"/>
            <a:ext cx="82296" cy="822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1978年：改革开放，开拓时代新篇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84048" y="3008376"/>
            <a:ext cx="82296" cy="822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2889504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2026年：科技强国，创新驱动未来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273552"/>
            <a:ext cx="45720" cy="4114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6" name="Shape 14"/>
          <p:cNvSpPr/>
          <p:nvPr/>
        </p:nvSpPr>
        <p:spPr>
          <a:xfrm>
            <a:off x="411480" y="3273552"/>
            <a:ext cx="772668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31927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时代在变，青春的热血从未冷却。每一代青年，都在用自己的方式回答时代的命题。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46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这个时代的青年之问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我们面临什么？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4048" y="1856232"/>
            <a:ext cx="82296" cy="822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73736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全球竞争加剧，不确定性成为常态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" y="2240280"/>
            <a:ext cx="82296" cy="822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2121408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AI技术革命，知识与技能加速迭代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4048" y="2624328"/>
            <a:ext cx="82296" cy="822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就业压力、房价压力、内卷焦虑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84048" y="3008376"/>
            <a:ext cx="82296" cy="822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2889504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信息爆炸时代，如何保持定力与清醒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46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青年的精神困境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当代青年的六种焦虑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1737360"/>
            <a:ext cx="786384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7373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焦虑类型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51960" y="17373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具体表现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0574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成长焦虑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51960" y="20574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能力跟不上期望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377440"/>
            <a:ext cx="7863840" cy="320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377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比较焦虑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51960" y="2377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社交媒体带来的同侪压力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2697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选择焦虑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51960" y="2697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路径太多反而无从下手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017520"/>
            <a:ext cx="7863840" cy="320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0175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价值焦虑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251960" y="30175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找不到意义感和方向感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3337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时间焦虑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51960" y="3337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觉得来不及、赶不上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657600"/>
            <a:ext cx="7863840" cy="320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3657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孤独焦虑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251960" y="3657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人群中的疏离感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46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第二章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46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困难篇 · 成长的必经之路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46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困难的本质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重新理解"困难"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4048" y="1856232"/>
            <a:ext cx="82296" cy="822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73736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困难不是惩罚，而是成长的原料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" y="2240280"/>
            <a:ext cx="82296" cy="822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2121408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舒适区里没有肌肉的生长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4048" y="2624328"/>
            <a:ext cx="82296" cy="822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所有深刻的成长，都源于穿越黑暗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84048" y="3008376"/>
            <a:ext cx="82296" cy="822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2889504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困难是命运的筛选机制——淘汰弱者，成就强者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273552"/>
            <a:ext cx="45720" cy="4114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6" name="Shape 14"/>
          <p:cNvSpPr/>
          <p:nvPr/>
        </p:nvSpPr>
        <p:spPr>
          <a:xfrm>
            <a:off x="411480" y="3273552"/>
            <a:ext cx="772668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31927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珍珠是牡蛎对沙粒的抵抗中孕育的。没有刺激，就没有珍珠。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46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困难的三种面孔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从不同维度理解困难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1737360"/>
            <a:ext cx="786384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73736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困难类型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56560" y="173736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特征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47360" y="173736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成长价值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05740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能力型困难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56560" y="205740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知识不足、技能欠缺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547360" y="205740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驱动学习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377440"/>
            <a:ext cx="7863840" cy="320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37744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环境型困难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956560" y="237744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资源匮乏、竞争激烈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47360" y="237744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锤炼韧性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269748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内心型困难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56560" y="269748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自我怀疑、动力不足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547360" y="269748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加深自省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46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中国青年的真实故事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黄文秀：把青春献给扶贫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4048" y="1856232"/>
            <a:ext cx="82296" cy="822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73736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北师大硕士毕业，放弃城市工作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" y="2240280"/>
            <a:ext cx="82296" cy="822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2121408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回到广西山区担任驻村第一书记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4048" y="2624328"/>
            <a:ext cx="82296" cy="822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在泥石流中牺牲时年仅30岁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84048" y="3008376"/>
            <a:ext cx="82296" cy="822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2889504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用生命诠释了"担当"二字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46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中国青年的真实故事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寒门学子：从大山到清华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4048" y="1856232"/>
            <a:ext cx="82296" cy="822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73736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家境贫困，父母常年外出打工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" y="2240280"/>
            <a:ext cx="82296" cy="822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2121408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每天步行5公里山路去学校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4048" y="2624328"/>
            <a:ext cx="82296" cy="822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以全县第一的成绩考入清华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84048" y="3008376"/>
            <a:ext cx="82296" cy="822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2889504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用十几年坚守完成了一次人生蜕变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46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中国青年的真实故事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冬奥赛场上的中国青年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4048" y="1856232"/>
            <a:ext cx="82296" cy="822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73736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谷爱凌：18岁夺得两金一银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" y="2240280"/>
            <a:ext cx="82296" cy="822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2121408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苏翊鸣：17岁单板滑雪夺金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4048" y="2624328"/>
            <a:ext cx="82296" cy="822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背后是数十年如一日的艰苦训练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84048" y="3008376"/>
            <a:ext cx="82296" cy="822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2889504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每一次飞跃都是无数次摔倒的结果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46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中国青年的真实故事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科技创业者的艰难起步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1737360"/>
            <a:ext cx="786384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73736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创业者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56560" y="173736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困难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47360" y="173736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突破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05740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汪滔(大疆)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56560" y="205740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宿舍创业无人看好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547360" y="205740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全球无人机霸主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377440"/>
            <a:ext cx="7863840" cy="320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37744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张一鸣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956560" y="237744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多次创业失败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47360" y="237744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今日头条/抖音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269748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王兴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56560" y="269748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校内网被迫出售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547360" y="269748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美团长成万亿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46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从心理学看"困境成长"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抗逆力（Resilience）的四大支柱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201168" cy="20116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78308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73736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目标感：有一个值得奋斗的方向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167128"/>
            <a:ext cx="201168" cy="20116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16712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121408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支持系统：有可以信赖的人际关系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551176"/>
            <a:ext cx="201168" cy="20116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55117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2505456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积极思维：在逆境中看到机会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935224"/>
            <a:ext cx="201168" cy="20116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93522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2889504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行动能力：把想法转化为行动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46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数据洞察</a:t>
            </a:r>
            <a:endParaRPr lang="en-US" sz="2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280160"/>
          <a:ext cx="59436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46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困难中的成长法则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五条铁律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201168" cy="20116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78308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73736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接受现实：困难是人生的常态，不是例外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167128"/>
            <a:ext cx="201168" cy="20116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16712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121408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聚焦可控：把精力花在你能改变的事情上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551176"/>
            <a:ext cx="201168" cy="20116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55117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2505456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小步前进：每天进步1%，一年后是37倍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935224"/>
            <a:ext cx="201168" cy="20116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93522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2889504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拥抱失败：每一次失败都是一次数据收集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319272"/>
            <a:ext cx="201168" cy="20116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31927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3273552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保持好奇心：把困难当成谜题来解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46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第三章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46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坚守篇 · 蜕变的内在力量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46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什么是真正的坚守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坚守不是死撑，而是智慧的坚持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4048" y="1856232"/>
            <a:ext cx="82296" cy="822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73736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坚守不是原地踏步，而是在方向正确的前提下持续前进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" y="2240280"/>
            <a:ext cx="82296" cy="822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2121408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坚守需要格局：知道什么值得坚持，什么应该放弃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4048" y="2624328"/>
            <a:ext cx="82296" cy="822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坚守需要韧性：在看不到结果的时候依然不放弃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84048" y="3008376"/>
            <a:ext cx="82296" cy="822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2889504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坚守需要弹性：在保持核心方向的同时灵活调整方法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46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蜕变的三个阶段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从毛毛虫到蝴蝶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1737360"/>
            <a:ext cx="786384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73736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阶段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56560" y="173736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特征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47360" y="173736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关键心态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05740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积累期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56560" y="205740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默默努力，无人关注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547360" y="205740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耐心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377440"/>
            <a:ext cx="7863840" cy="320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37744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阵痛期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956560" y="237744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遭遇瓶颈，怀疑人生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47360" y="237744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信心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269748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突破期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56560" y="269748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量变到质变，豁然开朗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547360" y="269748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谦逊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46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长期主义的力量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复利曲线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4048" y="1856232"/>
            <a:ext cx="82296" cy="822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73736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前80%的时间，你看不到明显变化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" y="2240280"/>
            <a:ext cx="82296" cy="822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2121408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后20%的时间，爆发式增长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4048" y="2624328"/>
            <a:ext cx="82296" cy="822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大多数人放弃在临界点之前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84048" y="3008376"/>
            <a:ext cx="82296" cy="822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2889504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坚守到临界点，是少数人的特权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46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数据洞察</a:t>
            </a:r>
            <a:endParaRPr lang="en-US" sz="2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280160"/>
          <a:ext cx="82296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46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坚守者的精神特质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四种内在品质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4048" y="1856232"/>
            <a:ext cx="82296" cy="822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73736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信念感——相信自己在做的事情有意义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" y="2240280"/>
            <a:ext cx="82296" cy="822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2121408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钝感力——对短期结果、外界评价不过度敏感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4048" y="2624328"/>
            <a:ext cx="82296" cy="822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反脆弱——在混乱和压力中反而变得更强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84048" y="3008376"/>
            <a:ext cx="82296" cy="822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2889504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延迟满足——愿意为了更大的回报忍受暂时的不适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46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传统文化中的坚守智慧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古人的精神资源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45720" cy="8686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8" name="Shape 6"/>
          <p:cNvSpPr/>
          <p:nvPr/>
        </p:nvSpPr>
        <p:spPr>
          <a:xfrm>
            <a:off x="411480" y="1737360"/>
            <a:ext cx="7726680" cy="868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783080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"天将降大任于是人也，必先苦其心志，劳其筋骨，饿其体肤，空乏其身，行拂乱其所为，所以动心忍性，曾益其所不能。" ——《孟子》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"路漫漫其修远兮，吾将上下而求索。" ——《离骚》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"宝剑锋从磨砺出，梅花香自苦寒来。" ——《警世贤文》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46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坚守中的自我迭代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不是重复，而是螺旋上升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4048" y="1856232"/>
            <a:ext cx="82296" cy="822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73736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每一次坚守都不是简单的重复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" y="2240280"/>
            <a:ext cx="82296" cy="822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2121408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而是在实践中不断调整和优化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4048" y="2624328"/>
            <a:ext cx="82296" cy="822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坚守的是方向，迭代的是方法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84048" y="3008376"/>
            <a:ext cx="82296" cy="822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2889504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蜕变发生在每一个微小的迭代之中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46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第四章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46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行动篇 · 新时代青年的担当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/ 46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这个时代需要什么样的青年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四种核心能力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1737360"/>
            <a:ext cx="786384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73736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能力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56560" y="173736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为什么重要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47360" y="173736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如何培养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05740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深度思考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56560" y="205740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AI时代差异化竞争力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547360" y="205740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多读书、多写作、多自省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377440"/>
            <a:ext cx="7863840" cy="320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37744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跨界融合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956560" y="237744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创新往往发生在边界处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47360" y="237744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学习不设限、敢于跨领域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269748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坚韧执行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56560" y="269748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想法不值钱，执行才值钱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547360" y="269748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从小事做起、养成习惯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017520"/>
            <a:ext cx="7863840" cy="320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01752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共情连接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956560" y="301752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技术越发达，人性越珍贵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547360" y="301752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多倾听、多理解、少评判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/ 46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行动指南一：建立你的定投系统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把成长变成日常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4048" y="1856232"/>
            <a:ext cx="82296" cy="822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73736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每天30分钟深度阅读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" y="2240280"/>
            <a:ext cx="82296" cy="822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2121408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每周写一篇复盘笔记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4048" y="2624328"/>
            <a:ext cx="82296" cy="822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每月学一个新技能点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84048" y="3008376"/>
            <a:ext cx="82296" cy="822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2889504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每季度做一次方向校准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273552"/>
            <a:ext cx="45720" cy="4114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6" name="Shape 14"/>
          <p:cNvSpPr/>
          <p:nvPr/>
        </p:nvSpPr>
        <p:spPr>
          <a:xfrm>
            <a:off x="411480" y="3273552"/>
            <a:ext cx="772668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31927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天才不过是把正确的事情重复做。习惯的力量远超一时的热血。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/ 46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行动指南二：打造你的困难清单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直面恐惧，主动训练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201168" cy="20116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78308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73736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列出你最害怕的三件事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167128"/>
            <a:ext cx="201168" cy="20116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16712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121408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制定接触计划，每周推进一点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551176"/>
            <a:ext cx="201168" cy="20116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55117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2505456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记录每次突破后的感受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935224"/>
            <a:ext cx="201168" cy="20116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93522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2889504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三个月后回顾，你会发现不一样的自己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/ 46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行动指南三：找到你的"为什么"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意义感是持久力的源泉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4048" y="1856232"/>
            <a:ext cx="82296" cy="822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73736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你的核心价值观是什么？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" y="2240280"/>
            <a:ext cx="82296" cy="822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2121408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你想为这个世界留下什么？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4048" y="2624328"/>
            <a:ext cx="82296" cy="822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什么样的生活值得过？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84048" y="3008376"/>
            <a:ext cx="82296" cy="822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2889504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十年后回望，什么会让你不后悔？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/ 46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青年就业趋势洞察</a:t>
            </a:r>
            <a:endParaRPr lang="en-US" sz="2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280160"/>
          <a:ext cx="59436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/ 46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青年政策红利概览</a:t>
            </a:r>
            <a:endParaRPr lang="en-US" sz="2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280160"/>
          <a:ext cx="82296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 / 46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给青年的十条建议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知行合一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201168" cy="20116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78308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73736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少刷短视频，多读经典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167128"/>
            <a:ext cx="201168" cy="20116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16712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121408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少焦虑未来，多做好当下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551176"/>
            <a:ext cx="201168" cy="20116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55117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2505456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少抱怨环境，多提升自己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935224"/>
            <a:ext cx="201168" cy="20116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93522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2889504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少追求捷径，多积累内功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319272"/>
            <a:ext cx="201168" cy="20116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31927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3273552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少跟别人比，多跟自己比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3703320"/>
            <a:ext cx="201168" cy="20116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370332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" y="365760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找到一个值得模仿的榜样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5760" y="4087368"/>
            <a:ext cx="201168" cy="20116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08736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0080" y="4041648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培养一个能沉浸其中的爱好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4471416"/>
            <a:ext cx="201168" cy="20116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447141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0080" y="4425696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学会独处，享受孤独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/ 46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从优秀到卓越的跨越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五个关键转变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1737360"/>
            <a:ext cx="786384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73736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56560" y="173736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到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47360" y="173736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转变意义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05740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被动应对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56560" y="205740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主动规划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547360" y="205740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掌控人生方向盘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377440"/>
            <a:ext cx="7863840" cy="320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37744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追求认可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956560" y="237744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追求价值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47360" y="237744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从外在驱动到内在驱动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269748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害怕失败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56560" y="269748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拥抱实验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547360" y="269748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把人生当成探索之旅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017520"/>
            <a:ext cx="7863840" cy="320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01752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关注结果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956560" y="301752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关注过程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547360" y="301752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享受成长的每一天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333756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索取思维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956560" y="333756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贡献思维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47360" y="333756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先创造价值再谈收获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 / 46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第五章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/ 46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结语 · 青春无悔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 / 46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回望来时路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那些困难都成了勋章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4048" y="1856232"/>
            <a:ext cx="82296" cy="822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73736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每一次深夜的坚持，都让黎明更值得期待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" y="2240280"/>
            <a:ext cx="82296" cy="822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2121408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每一次想要放弃却没有放弃的瞬间，都在定义你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4048" y="2624328"/>
            <a:ext cx="82296" cy="822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困难的密度，决定成长的厚度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84048" y="3008376"/>
            <a:ext cx="82296" cy="822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2889504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坚守的深度，决定蜕变的高度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 / 46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致每一个正在奋斗的你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45720" cy="6400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1280160"/>
            <a:ext cx="772668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32588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你不是在受苦，你是在扎根。根系越深，树干越壮，枝叶越茂。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那些没有打败你的，终将使你更强大。你所经历的一切困难，都在为未来的你积攒光芒。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 / 46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五四精神的新时代阐释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青年强则国强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4048" y="1856232"/>
            <a:ext cx="82296" cy="822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73736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爱国：在本职岗位上做到极致，就是最大的爱国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" y="2240280"/>
            <a:ext cx="82296" cy="822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2121408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进步：保持终身学习，不断刷新自己的版本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4048" y="2624328"/>
            <a:ext cx="82296" cy="822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民主：独立思考，勇敢表达，参与社会建设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84048" y="3008376"/>
            <a:ext cx="82296" cy="822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2889504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科学：求真务实，用数据和逻辑驱动决策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 / 46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青春宣言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我们的承诺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201168" cy="20116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78308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73736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不负时代，不负韶华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167128"/>
            <a:ext cx="201168" cy="20116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16712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121408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在困难中成长，在坚守中蜕变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551176"/>
            <a:ext cx="201168" cy="20116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55117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2505456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做有理想、有本领、有担当的新时代青年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935224"/>
            <a:ext cx="201168" cy="20116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93522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2889504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把个人的奋斗融入民族复兴的洪流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/ 46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914400"/>
            <a:ext cx="6400800" cy="3200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0" y="1188720"/>
            <a:ext cx="457200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0" y="3840480"/>
            <a:ext cx="457200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感谢聆听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828800" y="274320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—— 愿每一位青年，都能在困难中成长，在坚守中蜕变 ——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五四青年节 · 2026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 / 46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2026-05-29T12:29:08Z</dcterms:created>
  <dcterms:modified xsi:type="dcterms:W3CDTF">2026-05-29T12:29:08Z</dcterms:modified>
</cp:coreProperties>
</file>